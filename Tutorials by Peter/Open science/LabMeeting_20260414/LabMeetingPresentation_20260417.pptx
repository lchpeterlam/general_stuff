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9" r:id="rId3"/>
    <p:sldId id="260" r:id="rId4"/>
    <p:sldId id="259" r:id="rId5"/>
    <p:sldId id="262" r:id="rId6"/>
    <p:sldId id="263" r:id="rId7"/>
    <p:sldId id="292" r:id="rId8"/>
    <p:sldId id="290" r:id="rId9"/>
    <p:sldId id="293" r:id="rId10"/>
    <p:sldId id="288" r:id="rId11"/>
    <p:sldId id="294" r:id="rId12"/>
    <p:sldId id="285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25C00-BD08-4141-8B62-229F0C19BAA4}" v="282" dt="2026-04-17T13:53:48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7"/>
    <p:restoredTop sz="80205"/>
  </p:normalViewPr>
  <p:slideViewPr>
    <p:cSldViewPr snapToGrid="0">
      <p:cViewPr>
        <p:scale>
          <a:sx n="73" d="100"/>
          <a:sy n="73" d="100"/>
        </p:scale>
        <p:origin x="70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D856-D9ED-F84B-B6FA-A7D55DE1DFFC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8E96E-39D2-D544-88A2-320A35366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8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Threats to reproducible science. An idealized version of the hypothetico-deductive model of the scientific method is shown. Various potential threats to this model exist (indicated in red), including lack of replication, hypothesizing after the results are known (</a:t>
            </a:r>
            <a:r>
              <a:rPr lang="en-US" dirty="0" err="1"/>
              <a:t>HARKing</a:t>
            </a:r>
            <a:r>
              <a:rPr lang="en-US" dirty="0"/>
              <a:t>), poor study design, low statistical power, analytical flexibility, P-hacking, publication bias and lack of data sharing. Together these will serve to undermine the robustness of published research, and may also impact on the ability of science to self-correct.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96E-39D2-D544-88A2-320A35366A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37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96E-39D2-D544-88A2-320A35366A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78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96E-39D2-D544-88A2-320A35366A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12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B3B2-7F9A-FCD3-BF28-C5E6F71E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824D6-A1B1-56DE-B12A-E85F6E5A2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D1C5-275C-B50F-4D8F-E30B79B12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CF456-2B1C-D6C8-1656-914FEBA1A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96E-39D2-D544-88A2-320A35366A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62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good preregistrations don’t prevent you from doing bad science!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96E-39D2-D544-88A2-320A35366A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34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91B2-809B-2990-85AA-8E959D62B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65E6A-8D1D-1495-E272-1BE962F3E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B3F35-13FF-8F62-2E5F-0EA4D24D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63FBF-7870-2923-A231-D4DEED75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C76E-4078-2C67-02B4-9F61BFC9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0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4E57C-7053-0C94-C8EB-3BBB06E1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4E404-B5E6-3F3E-C0A7-3B14A604A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6E944-DA5F-9693-34FA-9BF7C5A4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601AF-973A-023A-A9DA-DDC0D508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0019A-1C6E-870B-5D37-4F990A2B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6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58B8-A565-6E95-0B0E-9C87764D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158E4-4937-168D-FB30-6E2D2EF08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634E-4EAC-1D55-1410-36339938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223E-AE8E-EC11-C04C-9B6616C8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174AB-7858-C6B4-18C1-29F1241D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7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7104-7EFB-769C-0ED4-B5911F01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C183-D4B9-7579-3BFC-4699E58B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2EF01-BF86-477C-E795-AD89A3153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60413-E3A5-7F3B-CB16-3A1B9390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C4182-DD82-1B72-219F-4F4DD978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3FC09-7F5F-523D-821F-129C4961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0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2090-D36E-CA92-996F-1DBCAC12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0EB77-92B9-07E0-4C01-3E8F776A1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50A96-B092-643D-3EE6-8F4DC7817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FD62C-55F1-3F08-D055-203EC1C5A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522B8-12D3-6C4E-661D-3F7A10D84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41F72-7BE9-4073-EA30-9A53DCAA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8E678-C64F-8444-CE3C-8E6AB461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B2999-078E-FEAC-F04A-28B7B15B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D105-07C3-42AD-EE2F-A5AF3A31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991BB-93DE-AC3D-B965-0CD40D5D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B9862-264E-AB65-8060-4B8CAB32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7CDFA-D477-1618-8872-C5E5F97E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5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5FDF2-2C99-413F-C81B-73499C98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0CCA3A-533A-5A3D-0EEF-2690B7D0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CC494-CD09-AF2E-8631-ABEBEC4E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FC34-A453-DB1C-90E8-8F3D128BF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B30B0-1099-19A1-97FB-E88C90B55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1768F-7AA5-FB28-65EC-CC4637AD9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65A1C-A067-C21F-1009-0A0DBAC1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2906D-8FF5-504C-6B83-95576FD1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6072D-E8EA-C2AC-909C-1ABCAB31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5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9535D-FD06-2591-A2A8-DCDC9E82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D827A-7AA9-8AAE-69CA-DE938FD06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4C115-0981-8AD8-7D11-CC1609E8C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C860D-3611-3BFA-DFF3-073DB846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3230D-1827-1A0F-AD19-3B69F9EB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118AC-A115-1E8F-DC91-8EE399C5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19B6-ECF0-BD8D-B973-A02C9071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A5FE8-8DBB-B47A-70C2-BA33836AA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3CED-D9D8-7A6F-7BDB-01895EC9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08305-0914-02D8-85B1-ECBB49D3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CC8D5-91E5-2709-90D1-9C633072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4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067A6-D167-F705-171C-EC8428152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C89F3-44BD-53C6-DE35-F9DA80D1A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C47A5-9BC1-F571-8FF6-6D42DBCD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66D00-3CC3-A538-AF19-8A10CEB6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44AAB-D824-7778-262F-E0688685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58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A9449-168B-E907-9EF3-C8B2A3B3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306E2-6281-7C80-BC57-97F48F672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FE514-F5E5-FF98-630C-B78DAC40A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3F882-B03F-8C47-8F08-EA7CB0605D2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19D4-FC7C-5E74-DC71-6DC7C8809E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6BE4F-D46F-F4CC-ED64-56C91F3FB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B5A8D-B454-8346-A2B8-17E2C0A6C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2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osf.io/article/330-welcome-to-registration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sf.io/x5w7h/files/yrvcg" TargetMode="External"/><Relationship Id="rId2" Type="http://schemas.openxmlformats.org/officeDocument/2006/relationships/hyperlink" Target="https://doi.org/10.31222/osf.io/4nvp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2688/f1000research.17710.2" TargetMode="External"/><Relationship Id="rId3" Type="http://schemas.openxmlformats.org/officeDocument/2006/relationships/hyperlink" Target="https://doi.org/10.31222/osf.io/4nvpt" TargetMode="External"/><Relationship Id="rId7" Type="http://schemas.openxmlformats.org/officeDocument/2006/relationships/hyperlink" Target="https://doi.org/10.1016/j.ijpsycho.2021.02.016" TargetMode="External"/><Relationship Id="rId2" Type="http://schemas.openxmlformats.org/officeDocument/2006/relationships/hyperlink" Target="https://doi.org/10.1016/j.ijpsycho.2022.02.00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77/2515245917747656" TargetMode="External"/><Relationship Id="rId5" Type="http://schemas.openxmlformats.org/officeDocument/2006/relationships/hyperlink" Target="https://doi.org/10.1111/psyp.14052" TargetMode="External"/><Relationship Id="rId4" Type="http://schemas.openxmlformats.org/officeDocument/2006/relationships/hyperlink" Target="https://doi.org/10.1525/collabra.18684" TargetMode="External"/><Relationship Id="rId9" Type="http://schemas.openxmlformats.org/officeDocument/2006/relationships/hyperlink" Target="https://doi.org/10.1007/s11065-021-09513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DD7A-956E-E670-F90F-F1C151C7F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Pre-registration: What, How, and Why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D8156-C8BA-23FC-DC68-E51BFC5A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48144"/>
          </a:xfrm>
        </p:spPr>
        <p:txBody>
          <a:bodyPr>
            <a:normAutofit/>
          </a:bodyPr>
          <a:lstStyle/>
          <a:p>
            <a:r>
              <a:rPr lang="en-US" dirty="0"/>
              <a:t>Peter C.H. Lam</a:t>
            </a:r>
          </a:p>
          <a:p>
            <a:r>
              <a:rPr lang="en-US" dirty="0"/>
              <a:t>PhD3 | SCSD</a:t>
            </a:r>
          </a:p>
          <a:p>
            <a:endParaRPr lang="en-US" dirty="0"/>
          </a:p>
          <a:p>
            <a:r>
              <a:rPr lang="en-US" dirty="0"/>
              <a:t>Apr 17</a:t>
            </a:r>
            <a:r>
              <a:rPr lang="en-US" baseline="30000" dirty="0"/>
              <a:t>th</a:t>
            </a:r>
            <a:r>
              <a:rPr lang="en-US" dirty="0"/>
              <a:t>, 2026</a:t>
            </a:r>
          </a:p>
          <a:p>
            <a:r>
              <a:rPr lang="en-US" dirty="0"/>
              <a:t>Lab Meeting</a:t>
            </a:r>
          </a:p>
        </p:txBody>
      </p:sp>
    </p:spTree>
    <p:extLst>
      <p:ext uri="{BB962C8B-B14F-4D97-AF65-F5344CB8AC3E}">
        <p14:creationId xmlns:p14="http://schemas.microsoft.com/office/powerpoint/2010/main" val="361775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DD35-90A3-ECD9-F262-0C5D12A3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Reproducible science and threats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F9082F-12F2-6153-34BA-1C98BADD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576" y="2502954"/>
            <a:ext cx="4894847" cy="2996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F3A2E0-DBCD-079D-06DD-665AE243BA76}"/>
              </a:ext>
            </a:extLst>
          </p:cNvPr>
          <p:cNvSpPr txBox="1"/>
          <p:nvPr/>
        </p:nvSpPr>
        <p:spPr>
          <a:xfrm>
            <a:off x="2964034" y="1690688"/>
            <a:ext cx="6268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Hypothetico-deductive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ABE77-C977-1D43-CC91-7B76D9EF2A22}"/>
              </a:ext>
            </a:extLst>
          </p:cNvPr>
          <p:cNvSpPr txBox="1"/>
          <p:nvPr/>
        </p:nvSpPr>
        <p:spPr>
          <a:xfrm>
            <a:off x="3223549" y="5869296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>
                <a:effectLst/>
              </a:rPr>
              <a:t>Munafò et al. (2017). A manifesto for reproducible science. </a:t>
            </a:r>
            <a:r>
              <a:rPr lang="en-CA" i="1" dirty="0">
                <a:effectLst/>
              </a:rPr>
              <a:t>Nature Human Behaviour.</a:t>
            </a:r>
            <a:endParaRPr lang="en-CA" dirty="0"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32A55E-8B8F-857F-B650-6BBCAB64C37D}"/>
              </a:ext>
            </a:extLst>
          </p:cNvPr>
          <p:cNvSpPr/>
          <p:nvPr/>
        </p:nvSpPr>
        <p:spPr>
          <a:xfrm>
            <a:off x="3747541" y="3020518"/>
            <a:ext cx="1034321" cy="239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85A929-B8A7-822E-48AB-EE176E6CB05B}"/>
              </a:ext>
            </a:extLst>
          </p:cNvPr>
          <p:cNvSpPr/>
          <p:nvPr/>
        </p:nvSpPr>
        <p:spPr>
          <a:xfrm>
            <a:off x="6823023" y="3062199"/>
            <a:ext cx="1563974" cy="239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D01581-CEB7-9EF5-316C-97097244FCBA}"/>
              </a:ext>
            </a:extLst>
          </p:cNvPr>
          <p:cNvSpPr/>
          <p:nvPr/>
        </p:nvSpPr>
        <p:spPr>
          <a:xfrm>
            <a:off x="7160302" y="4138020"/>
            <a:ext cx="1309141" cy="239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1812A-91AA-E5B5-54A6-34DA08FC00EE}"/>
              </a:ext>
            </a:extLst>
          </p:cNvPr>
          <p:cNvSpPr/>
          <p:nvPr/>
        </p:nvSpPr>
        <p:spPr>
          <a:xfrm>
            <a:off x="7010400" y="5260526"/>
            <a:ext cx="1309141" cy="239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FF1C02-9CCE-6EB8-525E-3A2A6F664448}"/>
              </a:ext>
            </a:extLst>
          </p:cNvPr>
          <p:cNvSpPr/>
          <p:nvPr/>
        </p:nvSpPr>
        <p:spPr>
          <a:xfrm>
            <a:off x="4020347" y="5260526"/>
            <a:ext cx="1309141" cy="239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0974F-65BB-C1EB-770A-4A8825C543C2}"/>
              </a:ext>
            </a:extLst>
          </p:cNvPr>
          <p:cNvSpPr/>
          <p:nvPr/>
        </p:nvSpPr>
        <p:spPr>
          <a:xfrm>
            <a:off x="3160427" y="4138020"/>
            <a:ext cx="1309141" cy="2398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A1022A-7F58-565D-E4C1-BF627E828B12}"/>
              </a:ext>
            </a:extLst>
          </p:cNvPr>
          <p:cNvSpPr/>
          <p:nvPr/>
        </p:nvSpPr>
        <p:spPr>
          <a:xfrm rot="19665077">
            <a:off x="4897863" y="3450284"/>
            <a:ext cx="1624969" cy="325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4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CC9A-9BE5-F704-4AE8-9755EC02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Motivations for OS: A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464D1-53C5-239E-8C7E-72B44D8CE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383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Researchers possess a generous amount of freedom in the design, analysis, and interpretation of scientific studies</a:t>
            </a:r>
          </a:p>
          <a:p>
            <a:r>
              <a:rPr lang="en-US" sz="2400" dirty="0"/>
              <a:t>The current incentive structure typically rewards surprising, positive, coherent results</a:t>
            </a:r>
          </a:p>
          <a:p>
            <a:r>
              <a:rPr lang="en-US" sz="2400" dirty="0"/>
              <a:t>Fertile ground for self- and other-fooling</a:t>
            </a:r>
          </a:p>
          <a:p>
            <a:r>
              <a:rPr lang="en-US" sz="2400" dirty="0"/>
              <a:t>Open science (OS) practices could reduce bias and increase transparency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6B706-A568-3B6C-42CB-82BA885F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36" y="1230951"/>
            <a:ext cx="4997786" cy="5306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1C5FF6-F5EC-A778-ED7F-153043E9A099}"/>
              </a:ext>
            </a:extLst>
          </p:cNvPr>
          <p:cNvSpPr txBox="1"/>
          <p:nvPr/>
        </p:nvSpPr>
        <p:spPr>
          <a:xfrm>
            <a:off x="5694218" y="5942568"/>
            <a:ext cx="49977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None/>
            </a:pPr>
            <a:r>
              <a:rPr lang="en-CA" sz="1400" dirty="0">
                <a:effectLst/>
              </a:rPr>
              <a:t>Hardwicke &amp; </a:t>
            </a:r>
            <a:r>
              <a:rPr lang="en-CA" sz="1400" dirty="0" err="1">
                <a:effectLst/>
              </a:rPr>
              <a:t>Wagenmakers</a:t>
            </a:r>
            <a:r>
              <a:rPr lang="en-CA" sz="1400" dirty="0">
                <a:effectLst/>
              </a:rPr>
              <a:t>. (2023). Reducing bias, increasing transparency and calibrating confidence with preregistration. </a:t>
            </a:r>
            <a:r>
              <a:rPr lang="en-CA" sz="1400" i="1" dirty="0">
                <a:effectLst/>
              </a:rPr>
              <a:t>Nature Human Behaviour</a:t>
            </a:r>
            <a:r>
              <a:rPr lang="en-CA" sz="14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31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09E54-B338-9011-F5E0-AABAAFF0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8F86-952A-4233-8E2F-AF7AFAD81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212"/>
            <a:ext cx="10515600" cy="1325563"/>
          </a:xfrm>
        </p:spPr>
        <p:txBody>
          <a:bodyPr/>
          <a:lstStyle/>
          <a:p>
            <a:r>
              <a:rPr lang="en-US" dirty="0"/>
              <a:t>Open science is many things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FC5E6E-82C7-5B1A-29DB-9F74C60D0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7296" y="1633464"/>
            <a:ext cx="3617407" cy="5100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174FFA-D90D-8748-5531-214C0FAB80E4}"/>
              </a:ext>
            </a:extLst>
          </p:cNvPr>
          <p:cNvSpPr txBox="1"/>
          <p:nvPr/>
        </p:nvSpPr>
        <p:spPr>
          <a:xfrm>
            <a:off x="0" y="5187785"/>
            <a:ext cx="406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3225" indent="-403225">
              <a:buNone/>
            </a:pPr>
            <a:r>
              <a:rPr lang="en-CA" sz="1200" dirty="0">
                <a:effectLst/>
              </a:rPr>
              <a:t>Kathawalla, U.-K., Silverstein, P., &amp; Syed, M. (2021). Easing Into Open Science: A Guide for Graduate Students and Their Advisors. </a:t>
            </a:r>
            <a:r>
              <a:rPr lang="en-CA" sz="1200" i="1" dirty="0">
                <a:effectLst/>
              </a:rPr>
              <a:t>Collabra: Psychology</a:t>
            </a:r>
            <a:r>
              <a:rPr lang="en-CA" sz="1200" dirty="0">
                <a:effectLst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D4EFA3-A7A7-28C8-4CCB-69A8DA6AA4E5}"/>
              </a:ext>
            </a:extLst>
          </p:cNvPr>
          <p:cNvSpPr txBox="1">
            <a:spLocks/>
          </p:cNvSpPr>
          <p:nvPr/>
        </p:nvSpPr>
        <p:spPr>
          <a:xfrm>
            <a:off x="838200" y="5475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 varying degrees of difficulty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BC363-9A81-7312-7320-A06475DC9CEF}"/>
              </a:ext>
            </a:extLst>
          </p:cNvPr>
          <p:cNvSpPr txBox="1"/>
          <p:nvPr/>
        </p:nvSpPr>
        <p:spPr>
          <a:xfrm>
            <a:off x="7785153" y="2103084"/>
            <a:ext cx="10741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2488" indent="-852488">
              <a:buNone/>
            </a:pPr>
            <a:r>
              <a:rPr lang="en-CA" sz="2400" dirty="0">
                <a:effectLst/>
              </a:rPr>
              <a:t>Easy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A3F6F-A05E-C37E-24E6-C6771A6FACBC}"/>
              </a:ext>
            </a:extLst>
          </p:cNvPr>
          <p:cNvSpPr txBox="1"/>
          <p:nvPr/>
        </p:nvSpPr>
        <p:spPr>
          <a:xfrm>
            <a:off x="7785151" y="2746256"/>
            <a:ext cx="32224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2488" indent="-852488">
              <a:buNone/>
            </a:pPr>
            <a:r>
              <a:rPr lang="en-CA" sz="2400" dirty="0">
                <a:effectLst/>
              </a:rPr>
              <a:t>Medium</a:t>
            </a:r>
          </a:p>
          <a:p>
            <a:pPr marL="852488" indent="-852488">
              <a:buNone/>
            </a:pPr>
            <a:r>
              <a:rPr lang="en-CA" sz="2400" dirty="0"/>
              <a:t>(exc. hard for RRs)</a:t>
            </a:r>
            <a:endParaRPr lang="en-CA" sz="2000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7F038-360F-81B0-978A-DFFD15E80D31}"/>
              </a:ext>
            </a:extLst>
          </p:cNvPr>
          <p:cNvSpPr txBox="1"/>
          <p:nvPr/>
        </p:nvSpPr>
        <p:spPr>
          <a:xfrm>
            <a:off x="7785152" y="3717860"/>
            <a:ext cx="1790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2488" indent="-852488">
              <a:buNone/>
            </a:pPr>
            <a:r>
              <a:rPr lang="en-CA" sz="2400" dirty="0">
                <a:effectLst/>
              </a:rPr>
              <a:t>Medium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0F269-C189-BB47-94B3-F0C0152868FE}"/>
              </a:ext>
            </a:extLst>
          </p:cNvPr>
          <p:cNvSpPr txBox="1"/>
          <p:nvPr/>
        </p:nvSpPr>
        <p:spPr>
          <a:xfrm>
            <a:off x="7785152" y="4453126"/>
            <a:ext cx="1790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2488" indent="-852488">
              <a:buNone/>
            </a:pPr>
            <a:r>
              <a:rPr lang="en-CA" sz="2400" dirty="0">
                <a:effectLst/>
              </a:rPr>
              <a:t>Medium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6E7E2-4D3F-BEB8-FEC0-94BB760A0DB1}"/>
              </a:ext>
            </a:extLst>
          </p:cNvPr>
          <p:cNvSpPr txBox="1"/>
          <p:nvPr/>
        </p:nvSpPr>
        <p:spPr>
          <a:xfrm>
            <a:off x="7785151" y="5188392"/>
            <a:ext cx="17902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2488" indent="-852488">
              <a:buNone/>
            </a:pPr>
            <a:r>
              <a:rPr lang="en-CA" sz="2400" dirty="0">
                <a:effectLst/>
              </a:rPr>
              <a:t>Easy</a:t>
            </a:r>
          </a:p>
          <a:p>
            <a:pPr marL="852488" indent="-852488">
              <a:buNone/>
            </a:pPr>
            <a:r>
              <a:rPr lang="en-CA" sz="2400" dirty="0"/>
              <a:t>Medium</a:t>
            </a:r>
            <a:endParaRPr lang="en-CA" sz="2400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9F2D3-7FFA-C707-7BB8-E8F579D28DEB}"/>
              </a:ext>
            </a:extLst>
          </p:cNvPr>
          <p:cNvSpPr/>
          <p:nvPr/>
        </p:nvSpPr>
        <p:spPr>
          <a:xfrm>
            <a:off x="6193536" y="2889504"/>
            <a:ext cx="1048512" cy="195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96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6" grpId="0"/>
      <p:bldP spid="9" grpId="0"/>
      <p:bldP spid="10" grpId="0"/>
      <p:bldP spid="11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D78F-3EE0-883E-413C-C711CAC3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Preregistration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15AB-8D95-9362-21F9-296FFD974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1188"/>
            <a:ext cx="10515600" cy="9541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Time-stamped, read-only document of detailed predictions and experiment/analysis protocols, </a:t>
            </a:r>
            <a:r>
              <a:rPr lang="en-US" b="1" dirty="0"/>
              <a:t>before </a:t>
            </a:r>
            <a:r>
              <a:rPr lang="en-US" dirty="0"/>
              <a:t>data collection begins</a:t>
            </a:r>
          </a:p>
          <a:p>
            <a:pPr lvl="2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A3841-D5E2-F96B-16A6-3F3B7058E7E3}"/>
              </a:ext>
            </a:extLst>
          </p:cNvPr>
          <p:cNvSpPr txBox="1"/>
          <p:nvPr/>
        </p:nvSpPr>
        <p:spPr>
          <a:xfrm>
            <a:off x="5911362" y="4784571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https://help.osf.io/article/330-welcome-to-registrations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50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8D8119-8D07-3C40-1850-6A4E57025068}"/>
              </a:ext>
            </a:extLst>
          </p:cNvPr>
          <p:cNvSpPr txBox="1"/>
          <p:nvPr/>
        </p:nvSpPr>
        <p:spPr>
          <a:xfrm>
            <a:off x="7546441" y="3476565"/>
            <a:ext cx="4287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size</a:t>
            </a:r>
          </a:p>
          <a:p>
            <a:r>
              <a:rPr lang="en-US" dirty="0"/>
              <a:t>Number of trials</a:t>
            </a:r>
          </a:p>
          <a:p>
            <a:r>
              <a:rPr lang="en-US" dirty="0"/>
              <a:t>Reference electrode</a:t>
            </a:r>
          </a:p>
          <a:p>
            <a:r>
              <a:rPr lang="en-US" dirty="0"/>
              <a:t>Baseline period selection</a:t>
            </a:r>
          </a:p>
          <a:p>
            <a:r>
              <a:rPr lang="en-US" dirty="0"/>
              <a:t>Mean amplitude time windows</a:t>
            </a:r>
          </a:p>
          <a:p>
            <a:r>
              <a:rPr lang="en-US" dirty="0"/>
              <a:t>Electrode choice and ROI assignments</a:t>
            </a:r>
          </a:p>
          <a:p>
            <a:r>
              <a:rPr lang="en-US" dirty="0"/>
              <a:t>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3C1B67-7F66-2666-7E60-31B9C62EFB40}"/>
              </a:ext>
            </a:extLst>
          </p:cNvPr>
          <p:cNvSpPr txBox="1">
            <a:spLocks/>
          </p:cNvSpPr>
          <p:nvPr/>
        </p:nvSpPr>
        <p:spPr>
          <a:xfrm>
            <a:off x="838200" y="13342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The problem with degrees of freedom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A12361-2637-4105-C0DB-536376AD8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271" y="2659826"/>
            <a:ext cx="4908201" cy="37077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61D560-406E-C17B-666B-3F9FAF57A7D2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09417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21F9-0ABB-C639-0232-8B780480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141CBF-FE59-B1A9-6EF0-FBC746309E61}"/>
              </a:ext>
            </a:extLst>
          </p:cNvPr>
          <p:cNvSpPr txBox="1"/>
          <p:nvPr/>
        </p:nvSpPr>
        <p:spPr>
          <a:xfrm>
            <a:off x="7546441" y="3476565"/>
            <a:ext cx="4287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size</a:t>
            </a:r>
          </a:p>
          <a:p>
            <a:r>
              <a:rPr lang="en-US" dirty="0"/>
              <a:t>Number of trials</a:t>
            </a:r>
          </a:p>
          <a:p>
            <a:r>
              <a:rPr lang="en-US" dirty="0"/>
              <a:t>Reference electrode</a:t>
            </a:r>
          </a:p>
          <a:p>
            <a:r>
              <a:rPr lang="en-US" dirty="0"/>
              <a:t>Baseline period selection</a:t>
            </a:r>
          </a:p>
          <a:p>
            <a:r>
              <a:rPr lang="en-US" dirty="0"/>
              <a:t>Mean amplitude time windows</a:t>
            </a:r>
          </a:p>
          <a:p>
            <a:r>
              <a:rPr lang="en-US" dirty="0"/>
              <a:t>Electrode choice and ROI assignments</a:t>
            </a:r>
          </a:p>
          <a:p>
            <a:r>
              <a:rPr lang="en-US" dirty="0"/>
              <a:t>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D3F593-1EB0-E38A-F027-019F8A471DAE}"/>
              </a:ext>
            </a:extLst>
          </p:cNvPr>
          <p:cNvSpPr txBox="1">
            <a:spLocks/>
          </p:cNvSpPr>
          <p:nvPr/>
        </p:nvSpPr>
        <p:spPr>
          <a:xfrm>
            <a:off x="838200" y="13342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The problem with degrees of freedom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1445A22-96C9-D6DD-EA35-7FC5B67488E3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E37CAE-1C96-1B52-30C9-FF25B6D5A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061" y="2478641"/>
            <a:ext cx="4170125" cy="4060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250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8B3F-49D9-CED0-3301-B2B81CE1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12C3-40C6-DCE2-630C-4548A9B1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C7260-D7F0-4F4A-3DEF-E2B86CF2B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7354"/>
            <a:ext cx="10515600" cy="36096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C0C056-5939-4A28-ABF7-35683C279228}"/>
              </a:ext>
            </a:extLst>
          </p:cNvPr>
          <p:cNvSpPr/>
          <p:nvPr/>
        </p:nvSpPr>
        <p:spPr>
          <a:xfrm>
            <a:off x="433754" y="2189103"/>
            <a:ext cx="5457092" cy="36096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For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Transparency and verifiability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Stick to a priori decisions/principles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Differentiate confirmatory and exploratory analyses: Prevent HARKING/p-hacking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F674B7-1A4A-097B-D21E-BA65AA961886}"/>
              </a:ext>
            </a:extLst>
          </p:cNvPr>
          <p:cNvSpPr/>
          <p:nvPr/>
        </p:nvSpPr>
        <p:spPr>
          <a:xfrm>
            <a:off x="6318739" y="2189102"/>
            <a:ext cx="5457092" cy="360960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For the scientist</a:t>
            </a:r>
          </a:p>
          <a:p>
            <a:pPr marL="590550" lvl="2" indent="-277813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Increase publication odds and the lab’s credibility</a:t>
            </a:r>
          </a:p>
          <a:p>
            <a:pPr marL="590550" lvl="2" indent="-277813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Frontloading the work: prevents mistakes and surprises after collection</a:t>
            </a:r>
          </a:p>
          <a:p>
            <a:pPr marL="1047750" lvl="4" indent="-27781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E.g., the data collected doesn’t allow for intended analysis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83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142C-52E5-7B1B-CBA7-A59703CA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3BBE1-B760-F4FE-9AFF-B6D670F7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to preregister your (EEG) study?</a:t>
            </a:r>
          </a:p>
        </p:txBody>
      </p:sp>
    </p:spTree>
    <p:extLst>
      <p:ext uri="{BB962C8B-B14F-4D97-AF65-F5344CB8AC3E}">
        <p14:creationId xmlns:p14="http://schemas.microsoft.com/office/powerpoint/2010/main" val="307666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817A-2F8D-3639-871E-7E36DDCE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and bad preregistrations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3D7627-338F-C1FC-C29A-81A80C694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6676" y="2306989"/>
            <a:ext cx="577890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678A6-BF98-31DF-705E-2B6C6F12A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70697"/>
            <a:ext cx="5158476" cy="326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1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DD529-EC54-A62F-6C5C-BA87AC99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A0E1-A973-7C15-5D9F-4D6F3EF6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39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to preregister your (EEG) study?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64DFB-26DE-5C2B-C683-2C4AF4DD7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4333"/>
            <a:ext cx="4525108" cy="4107413"/>
          </a:xfrm>
        </p:spPr>
        <p:txBody>
          <a:bodyPr>
            <a:normAutofit/>
          </a:bodyPr>
          <a:lstStyle/>
          <a:p>
            <a:r>
              <a:rPr lang="en-US" dirty="0"/>
              <a:t>The template for your plan</a:t>
            </a:r>
          </a:p>
          <a:p>
            <a:pPr lvl="1"/>
            <a:r>
              <a:rPr lang="en-CA" sz="2000" dirty="0"/>
              <a:t>Govaart et al. (2022). </a:t>
            </a:r>
            <a:r>
              <a:rPr lang="en-CA" sz="2000" i="1" dirty="0"/>
              <a:t>EEG and ERP Methods—Preregistration Template</a:t>
            </a:r>
            <a:r>
              <a:rPr lang="en-CA" sz="2000" dirty="0"/>
              <a:t>. </a:t>
            </a:r>
            <a:r>
              <a:rPr lang="en-CA" sz="2000" dirty="0" err="1"/>
              <a:t>MetaArXiv</a:t>
            </a:r>
            <a:r>
              <a:rPr lang="en-CA" sz="2000" dirty="0"/>
              <a:t>. </a:t>
            </a:r>
            <a:r>
              <a:rPr lang="en-CA" sz="2000" dirty="0">
                <a:hlinkClick r:id="rId2"/>
              </a:rPr>
              <a:t>https://doi.org/10.31222/osf.io/4nvpt</a:t>
            </a:r>
            <a:endParaRPr lang="en-CA" sz="2000" dirty="0"/>
          </a:p>
          <a:p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52A656-0B4B-88C1-0553-B44A528C47D0}"/>
              </a:ext>
            </a:extLst>
          </p:cNvPr>
          <p:cNvSpPr txBox="1">
            <a:spLocks/>
          </p:cNvSpPr>
          <p:nvPr/>
        </p:nvSpPr>
        <p:spPr>
          <a:xfrm>
            <a:off x="6494584" y="2544333"/>
            <a:ext cx="4706816" cy="410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template to transparently deviate from your plan</a:t>
            </a:r>
          </a:p>
          <a:p>
            <a:pPr lvl="1"/>
            <a:r>
              <a:rPr lang="en-US" dirty="0">
                <a:hlinkClick r:id="rId3"/>
              </a:rPr>
              <a:t>https://osf.io/x5w7h/files/yrvcg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072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0D86-318A-F44C-0200-58BAABEA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Thank you for your attention!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A6BFE-4853-61FA-4CC5-880BD2C0D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42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3468-5A15-2BBB-663F-A49EC8EC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DE226-E8FB-F16C-1084-9C9282A76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496888" indent="-496888">
              <a:buNone/>
            </a:pPr>
            <a:r>
              <a:rPr lang="en-CA" dirty="0">
                <a:effectLst/>
              </a:rPr>
              <a:t>Clayson, P. E., Keil, A., &amp; Larson, M. J. (2022). Open science in human electrophysiology. </a:t>
            </a:r>
            <a:r>
              <a:rPr lang="en-CA" i="1" dirty="0">
                <a:effectLst/>
              </a:rPr>
              <a:t>International Journal of Psychophysiology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174</a:t>
            </a:r>
            <a:r>
              <a:rPr lang="en-CA" dirty="0">
                <a:effectLst/>
              </a:rPr>
              <a:t>, 43–46. </a:t>
            </a:r>
            <a:r>
              <a:rPr lang="en-CA" dirty="0">
                <a:effectLst/>
                <a:hlinkClick r:id="rId2"/>
              </a:rPr>
              <a:t>https://doi.org/10.1016/j.ijpsycho.2022.02.002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>
                <a:effectLst/>
              </a:rPr>
              <a:t>Govaart, G. H., Schettino, A., Helbling, S., Mehler, D. M. A., Ngiam, W. X. Q., Moreau, D., </a:t>
            </a:r>
            <a:r>
              <a:rPr lang="en-CA" dirty="0" err="1">
                <a:effectLst/>
              </a:rPr>
              <a:t>Chiossi</a:t>
            </a:r>
            <a:r>
              <a:rPr lang="en-CA" dirty="0">
                <a:effectLst/>
              </a:rPr>
              <a:t>, F., Zanesco, A. P., Yang, Y.-F., Gau, R., Bartlett, J. E., García Alanis, J. C., </a:t>
            </a:r>
            <a:r>
              <a:rPr lang="en-CA" dirty="0" err="1">
                <a:effectLst/>
              </a:rPr>
              <a:t>Gutsell</a:t>
            </a:r>
            <a:r>
              <a:rPr lang="en-CA" dirty="0">
                <a:effectLst/>
              </a:rPr>
              <a:t>, J. N., </a:t>
            </a:r>
            <a:r>
              <a:rPr lang="en-CA" dirty="0" err="1">
                <a:effectLst/>
              </a:rPr>
              <a:t>Çetinçelik</a:t>
            </a:r>
            <a:r>
              <a:rPr lang="en-CA" dirty="0">
                <a:effectLst/>
              </a:rPr>
              <a:t>, M., Pavlov, Y. G., </a:t>
            </a:r>
            <a:r>
              <a:rPr lang="en-CA" dirty="0" err="1">
                <a:effectLst/>
              </a:rPr>
              <a:t>Šoškić</a:t>
            </a:r>
            <a:r>
              <a:rPr lang="en-CA" dirty="0">
                <a:effectLst/>
              </a:rPr>
              <a:t>, A., Ehinger, B. V., </a:t>
            </a:r>
            <a:r>
              <a:rPr lang="en-CA" dirty="0" err="1">
                <a:effectLst/>
              </a:rPr>
              <a:t>Mouseli</a:t>
            </a:r>
            <a:r>
              <a:rPr lang="en-CA" dirty="0">
                <a:effectLst/>
              </a:rPr>
              <a:t>, P., </a:t>
            </a:r>
            <a:r>
              <a:rPr lang="en-CA" dirty="0" err="1">
                <a:effectLst/>
              </a:rPr>
              <a:t>Algermissen</a:t>
            </a:r>
            <a:r>
              <a:rPr lang="en-CA" dirty="0">
                <a:effectLst/>
              </a:rPr>
              <a:t>, J., … Paul, E. (2022). </a:t>
            </a:r>
            <a:r>
              <a:rPr lang="en-CA" i="1" dirty="0">
                <a:effectLst/>
              </a:rPr>
              <a:t>EEG and ERP Methods—Preregistration Template</a:t>
            </a:r>
            <a:r>
              <a:rPr lang="en-CA" dirty="0">
                <a:effectLst/>
              </a:rPr>
              <a:t>. </a:t>
            </a:r>
            <a:r>
              <a:rPr lang="en-CA" dirty="0" err="1">
                <a:effectLst/>
              </a:rPr>
              <a:t>MetaArXiv</a:t>
            </a:r>
            <a:r>
              <a:rPr lang="en-CA" dirty="0">
                <a:effectLst/>
              </a:rPr>
              <a:t>. </a:t>
            </a:r>
            <a:r>
              <a:rPr lang="en-CA" dirty="0">
                <a:effectLst/>
                <a:hlinkClick r:id="rId3"/>
              </a:rPr>
              <a:t>https://doi.org/10.31222/osf.io/4nvpt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>
                <a:effectLst/>
              </a:rPr>
              <a:t>Kathawalla, U.-K., Silverstein, P., &amp; Syed, M. (2021). Easing Into Open Science: A Guide for Graduate Students and Their Advisors. </a:t>
            </a:r>
            <a:r>
              <a:rPr lang="en-CA" i="1" dirty="0">
                <a:effectLst/>
              </a:rPr>
              <a:t>Collabra: Psychology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7</a:t>
            </a:r>
            <a:r>
              <a:rPr lang="en-CA" dirty="0">
                <a:effectLst/>
              </a:rPr>
              <a:t>(1), 18684. </a:t>
            </a:r>
            <a:r>
              <a:rPr lang="en-CA" dirty="0">
                <a:effectLst/>
                <a:hlinkClick r:id="rId4"/>
              </a:rPr>
              <a:t>https://doi.org/10.1525/collabra.18684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>
                <a:effectLst/>
              </a:rPr>
              <a:t>Keil, A., Bernat, E. M., Cohen, M. X., Ding, M., Fabiani, M., Gratton, G., Kappenman, E. S., Maris, E., Mathewson, K. E., Ward, R. T., &amp; Weisz, N. (2022). Recommendations and publication guidelines for studies using frequency domain and time-frequency domain analyses of neural time series. </a:t>
            </a:r>
            <a:r>
              <a:rPr lang="en-CA" i="1" dirty="0">
                <a:effectLst/>
              </a:rPr>
              <a:t>Psychophysiology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59</a:t>
            </a:r>
            <a:r>
              <a:rPr lang="en-CA" dirty="0">
                <a:effectLst/>
              </a:rPr>
              <a:t>(5), e14052. </a:t>
            </a:r>
            <a:r>
              <a:rPr lang="en-CA" dirty="0">
                <a:effectLst/>
                <a:hlinkClick r:id="rId5"/>
              </a:rPr>
              <a:t>https://doi.org/10.1111/psyp.14052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>
                <a:effectLst/>
              </a:rPr>
              <a:t>Meyer, M. N. (2018). Practical Tips for Ethical Data Sharing. </a:t>
            </a:r>
            <a:r>
              <a:rPr lang="en-CA" i="1" dirty="0">
                <a:effectLst/>
              </a:rPr>
              <a:t>Advances in Methods and Practices in Psychological Science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1</a:t>
            </a:r>
            <a:r>
              <a:rPr lang="en-CA" dirty="0">
                <a:effectLst/>
              </a:rPr>
              <a:t>(1), 131–144. </a:t>
            </a:r>
            <a:r>
              <a:rPr lang="en-CA" dirty="0">
                <a:effectLst/>
                <a:hlinkClick r:id="rId6"/>
              </a:rPr>
              <a:t>https://doi.org/10.1177/2515245917747656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>
                <a:effectLst/>
              </a:rPr>
              <a:t>Paul, M., Govaart, G. H., &amp; Schettino, A. (2021). Making ERP research more transparent: Guidelines for preregistration. </a:t>
            </a:r>
            <a:r>
              <a:rPr lang="en-CA" i="1" dirty="0">
                <a:effectLst/>
              </a:rPr>
              <a:t>International Journal of Psychophysiology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164</a:t>
            </a:r>
            <a:r>
              <a:rPr lang="en-CA" dirty="0">
                <a:effectLst/>
              </a:rPr>
              <a:t>, 52–63. </a:t>
            </a:r>
            <a:r>
              <a:rPr lang="en-CA" dirty="0">
                <a:effectLst/>
                <a:hlinkClick r:id="rId7"/>
              </a:rPr>
              <a:t>https://doi.org/10.1016/j.ijpsycho.2021.02.016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>
                <a:effectLst/>
              </a:rPr>
              <a:t>Schapira, M., &amp; Harding, R. J. (2019). Open laboratory notebooks: Good for science, good for society, good for scientists. </a:t>
            </a:r>
            <a:r>
              <a:rPr lang="en-CA" i="1" dirty="0">
                <a:effectLst/>
              </a:rPr>
              <a:t>F1000Research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8</a:t>
            </a:r>
            <a:r>
              <a:rPr lang="en-CA" dirty="0">
                <a:effectLst/>
              </a:rPr>
              <a:t>, 87. </a:t>
            </a:r>
            <a:r>
              <a:rPr lang="en-CA" dirty="0">
                <a:effectLst/>
                <a:hlinkClick r:id="rId8"/>
              </a:rPr>
              <a:t>https://doi.org/10.12688/f1000research.17710.2</a:t>
            </a:r>
            <a:endParaRPr lang="en-CA" dirty="0">
              <a:effectLst/>
            </a:endParaRPr>
          </a:p>
          <a:p>
            <a:pPr marL="496888" indent="-496888">
              <a:buNone/>
            </a:pPr>
            <a:r>
              <a:rPr lang="en-CA" dirty="0" err="1">
                <a:effectLst/>
              </a:rPr>
              <a:t>Šoškić</a:t>
            </a:r>
            <a:r>
              <a:rPr lang="en-CA" dirty="0">
                <a:effectLst/>
              </a:rPr>
              <a:t>, A., Jovanović, V., Styles, S. J., Kappenman, E. S., &amp; </a:t>
            </a:r>
            <a:r>
              <a:rPr lang="en-CA" dirty="0" err="1">
                <a:effectLst/>
              </a:rPr>
              <a:t>Ković</a:t>
            </a:r>
            <a:r>
              <a:rPr lang="en-CA" dirty="0">
                <a:effectLst/>
              </a:rPr>
              <a:t>, V. (2022). How to do Better N400 Studies: Reproducibility, Consistency and Adherence to Research Standards in the Existing Literature. </a:t>
            </a:r>
            <a:r>
              <a:rPr lang="en-CA" i="1" dirty="0">
                <a:effectLst/>
              </a:rPr>
              <a:t>Neuropsychology Review</a:t>
            </a:r>
            <a:r>
              <a:rPr lang="en-CA" dirty="0">
                <a:effectLst/>
              </a:rPr>
              <a:t>, </a:t>
            </a:r>
            <a:r>
              <a:rPr lang="en-CA" i="1" dirty="0">
                <a:effectLst/>
              </a:rPr>
              <a:t>32</a:t>
            </a:r>
            <a:r>
              <a:rPr lang="en-CA" dirty="0">
                <a:effectLst/>
              </a:rPr>
              <a:t>(3), 577–600. </a:t>
            </a:r>
            <a:r>
              <a:rPr lang="en-CA" dirty="0">
                <a:effectLst/>
                <a:hlinkClick r:id="rId9"/>
              </a:rPr>
              <a:t>https://doi.org/10.1007/s11065-021-09513-4</a:t>
            </a:r>
            <a:endParaRPr lang="en-CA" dirty="0">
              <a:effectLst/>
            </a:endParaRPr>
          </a:p>
          <a:p>
            <a:pPr marL="496888" indent="-496888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0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1032</Words>
  <Application>Microsoft Macintosh PowerPoint</Application>
  <PresentationFormat>Widescreen</PresentationFormat>
  <Paragraphs>81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Pre-registration: What, How, and Why</vt:lpstr>
      <vt:lpstr>Reproducible science and threats</vt:lpstr>
      <vt:lpstr>Motivations for OS: A recap</vt:lpstr>
      <vt:lpstr>Open science is many things</vt:lpstr>
      <vt:lpstr>Preregistration</vt:lpstr>
      <vt:lpstr>PowerPoint Presentation</vt:lpstr>
      <vt:lpstr>PowerPoint Presentation</vt:lpstr>
      <vt:lpstr>Why?</vt:lpstr>
      <vt:lpstr>How to preregister your (EEG) study?</vt:lpstr>
      <vt:lpstr>Good and bad preregistrations</vt:lpstr>
      <vt:lpstr>How to preregister your (EEG) study?</vt:lpstr>
      <vt:lpstr>Thank you for your attention!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Lam</dc:creator>
  <cp:lastModifiedBy>Peter Lam</cp:lastModifiedBy>
  <cp:revision>1</cp:revision>
  <dcterms:created xsi:type="dcterms:W3CDTF">2026-04-06T21:53:26Z</dcterms:created>
  <dcterms:modified xsi:type="dcterms:W3CDTF">2026-04-17T13:55:42Z</dcterms:modified>
</cp:coreProperties>
</file>